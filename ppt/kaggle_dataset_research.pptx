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23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point: a rule-based engine can identify high-priority encounters earlier by applying simple rules to historical utilization fields. The strongest single rule is number_inpatient &gt;= 3: 1,809 of 7,049 encounter rows in this cohort are labelled &lt;30 (25.66%). The baseline group with number_inpatient=0 and number_emergency=0 has 5,229 of 63,035 rows labelled &lt;30 (8.30%). This is retrospective group-level evidence; the engine should produce review priority, not a guaranteed individual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tiers partition all 101,766 encounters: HIGH if number_inpatient &gt;= 3 (7,049 rows; 1,809 labelled &lt;30; 25.66%); ELEVATED if &lt;3 prior inpatient and either at least one prior inpatient or at least one prior emergency visit (31,682 rows; 4,319 labelled &lt;30; 13.63%); BASELINE if both prior inpatient and prior emergency counts are zero (63,035 rows; 5,229 labelled &lt;30; 8.30%). High plus elevated includes 38,731 rows (38.06%) and 6,128 early-readmission labels (53.96% of 11,357). These are exploratory, in-sample statistics and must be tested on held-out patients before prospective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is not that rules themselves reduce readmissions. Rules can surface a cohort earlier, which may allow a team to review needs and decide on appropriate follow-up. Any effect on readmission, length of stay, costs or revenue requires a prospective intervention evaluation and financial records. Break-even cannot be calculated from this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logic is mutually exclusive. HIGH: number_inpatient &gt;= 3. ELEVATED: number_inpatient &lt; 3 and (number_inpatient &gt;= 1 or number_emergency &gt;= 1). BASELINE: number_inpatient=0 and number_emergency=0. These columns describe prior-year utilisation in the dataset, making them more appropriate for an early flag than fields like time_in_hospital or num_medications that may only be known later in the stay. In a live environment, field availability and latency need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repeated encounter rows for some patients. Use patient-separated splits to avoid leakage. These rules were chosen after exploratory analysis on this file, so displayed rates are in-sample and optimistic as performance estimates. Before operational use, run a holdout evaluation followed by a prospective silent pilot; measure whether alerts arrive early enough, how many cases are flagged, how many early readmission labels are captured, reviewer agreement, workflow burden, and patient outcomes. Financial impact requires cost/payment data absent from this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35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RECOMMENDATION | READMISSION EARLY-WARNING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simple rules to surface readmission risk earlier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prior-utilisation history available at encounter start to prioritise human review—before discharge planning is complete.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6334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17904"/>
            <a:ext cx="2633472" cy="502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101,766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" y="203911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55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ENCOUNTERS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740664" y="22311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encounter rows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3337560" y="1517904"/>
            <a:ext cx="26334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17904"/>
            <a:ext cx="2633472" cy="50292"/>
          </a:xfrm>
          <a:prstGeom prst="rect">
            <a:avLst/>
          </a:prstGeom>
          <a:solidFill>
            <a:srgbClr val="C95D55"/>
          </a:solidFill>
          <a:ln w="12700">
            <a:solidFill>
              <a:srgbClr val="C95D5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1296" y="203911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55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&lt;30 LABEL RATE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511296" y="22311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11,357 encounter rows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108192" y="1517904"/>
            <a:ext cx="26334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517904"/>
            <a:ext cx="2633472" cy="50292"/>
          </a:xfrm>
          <a:prstGeom prst="rect">
            <a:avLst/>
          </a:prstGeom>
          <a:solidFill>
            <a:srgbClr val="E4A23A"/>
          </a:solidFill>
          <a:ln w="12700">
            <a:solidFill>
              <a:srgbClr val="E4A23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7,049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81928" y="203911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55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HIGH-RULE COHORT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281928" y="22311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≥ 3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878824" y="1517904"/>
            <a:ext cx="26334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1517904"/>
            <a:ext cx="2633472" cy="50292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3416" y="1682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25.66%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52560" y="203911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55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HIGH-COHORT RATE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9052560" y="22311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1,809 rows labelled &lt;30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566928" y="2770632"/>
            <a:ext cx="7040880" cy="3182112"/>
          </a:xfrm>
          <a:prstGeom prst="roundRect">
            <a:avLst>
              <a:gd name="adj" fmla="val 3448"/>
            </a:avLst>
          </a:prstGeom>
          <a:solidFill>
            <a:srgbClr val="102A43"/>
          </a:solidFill>
          <a:ln w="1016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04495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RECOMMENDATION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859536" y="337413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an admission-time rule engine.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" y="3822192"/>
            <a:ext cx="6199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 inpatient and emergency-visit counts to create a review-priority tier as soon as the encounter is recorded.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877824" y="44622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25296" y="4462272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historical utilisation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3291840" y="4462272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fields: number_inpatient and number_emergency.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77824" y="48554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25296" y="4855464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transparent rules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3291840" y="4855464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 tier and the exact reason for the flag.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77824" y="52486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25296" y="5248656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for human review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3291840" y="524865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care coordination review; never automate clinical decisions.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818120" y="2770632"/>
            <a:ext cx="3803904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3044952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PROMISING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8101584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3.1×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8119872" y="4050792"/>
            <a:ext cx="3063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early-readmission rate in the high-rule cohort versus the baseline cohort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8119872" y="4736592"/>
            <a:ext cx="3163824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8119872" y="4919472"/>
            <a:ext cx="2999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A3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25.66% vs 8.30%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19872" y="5358384"/>
            <a:ext cx="30815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group rates support prioritisation—not an individual, calibrated probability.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35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EVIDENCE | RULES SEPARATE RISK COHORTS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three-tier rule set creates a practical review queue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are based on prior inpatient and emergency utilisation; observed rates are calculated from the full historical CSV.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7370064" cy="4562856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73936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“&lt;30” RATE BY RULE TIER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859536" y="2011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= the share of encounter rows within each tier labelled “&lt;30”.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3127248" y="2331720"/>
            <a:ext cx="0" cy="3035808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944368" y="54315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4206240" y="2331720"/>
            <a:ext cx="0" cy="3035808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023360" y="54315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5285232" y="2331720"/>
            <a:ext cx="0" cy="3035808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102352" y="54315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364224" y="2331720"/>
            <a:ext cx="0" cy="3035808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181344" y="54315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59536" y="2496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C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59536" y="2715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≥ 3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3127248" y="2542032"/>
            <a:ext cx="3236976" cy="228600"/>
          </a:xfrm>
          <a:prstGeom prst="roundRect">
            <a:avLst>
              <a:gd name="adj" fmla="val 48000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2542032"/>
            <a:ext cx="2768693" cy="228600"/>
          </a:xfrm>
          <a:prstGeom prst="roundRect">
            <a:avLst>
              <a:gd name="adj" fmla="val 48000"/>
            </a:avLst>
          </a:prstGeom>
          <a:solidFill>
            <a:srgbClr val="C95D55"/>
          </a:solidFill>
          <a:ln w="10160">
            <a:solidFill>
              <a:srgbClr val="C95D5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7381" y="247802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C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25.66%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3127248" y="28346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7,049 encounters  •  1,809 labelled &lt;30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9536" y="34930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E4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59536" y="37124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 prior inpatient AND (≥1 prior inpatient OR ≥1 prior emergency)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3127248" y="3538728"/>
            <a:ext cx="3236976" cy="228600"/>
          </a:xfrm>
          <a:prstGeom prst="roundRect">
            <a:avLst>
              <a:gd name="adj" fmla="val 48000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27248" y="3538728"/>
            <a:ext cx="1470666" cy="228600"/>
          </a:xfrm>
          <a:prstGeom prst="roundRect">
            <a:avLst>
              <a:gd name="adj" fmla="val 48000"/>
            </a:avLst>
          </a:prstGeom>
          <a:solidFill>
            <a:srgbClr val="E4A23A"/>
          </a:solidFill>
          <a:ln w="10160">
            <a:solidFill>
              <a:srgbClr val="E4A23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9354" y="34747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E4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13.63%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3127248" y="38313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31,682 encounters  •  4,319 labelled &lt;30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9536" y="44897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859536" y="4709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= 0 AND number_emergency = 0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3127248" y="4535424"/>
            <a:ext cx="3236976" cy="228600"/>
          </a:xfrm>
          <a:prstGeom prst="roundRect">
            <a:avLst>
              <a:gd name="adj" fmla="val 48000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27248" y="4535424"/>
            <a:ext cx="895563" cy="228600"/>
          </a:xfrm>
          <a:prstGeom prst="roundRect">
            <a:avLst>
              <a:gd name="adj" fmla="val 48000"/>
            </a:avLst>
          </a:prstGeom>
          <a:solidFill>
            <a:srgbClr val="17A398"/>
          </a:solidFill>
          <a:ln w="1016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251" y="44714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8.30%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3127248" y="4828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63,035 encounters  •  5,229 labelled &lt;30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93024" y="1517904"/>
            <a:ext cx="3429000" cy="4562856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016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8105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 COVERAGE TRADE-OFF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8458200" y="21854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38.1%</a:t>
            </a:r>
            <a:endParaRPr lang="en-US" sz="3500" dirty="0"/>
          </a:p>
        </p:txBody>
      </p:sp>
      <p:sp>
        <p:nvSpPr>
          <p:cNvPr id="37" name="Text 35"/>
          <p:cNvSpPr/>
          <p:nvPr/>
        </p:nvSpPr>
        <p:spPr>
          <a:xfrm>
            <a:off x="8476488" y="274320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all encounter rows fall into HIGH + ELEVATED tiers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476488" y="3319272"/>
            <a:ext cx="2852928" cy="0"/>
          </a:xfrm>
          <a:prstGeom prst="line">
            <a:avLst/>
          </a:prstGeom>
          <a:noFill/>
          <a:ln w="12700">
            <a:solidFill>
              <a:srgbClr val="3D5A73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8458200" y="35387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7EE0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54.0%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8476488" y="408736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all “&lt;30” encounter labels fall in those flagged tiers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8458200" y="4873752"/>
            <a:ext cx="2834640" cy="804672"/>
          </a:xfrm>
          <a:prstGeom prst="roundRect">
            <a:avLst>
              <a:gd name="adj" fmla="val 13636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5010912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starting point for triage; not yet an out-of-sample performance result.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35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BUSINESS VALUE | HOW EARLY IDENTIFICATION COULD HELP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rule creates a timely review opportunity—not guaranteed savings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supports prioritising review; whether the intervention changes readmissions or finances must be measured.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2821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28216"/>
            <a:ext cx="2487168" cy="502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38528"/>
            <a:ext cx="338328" cy="292608"/>
          </a:xfrm>
          <a:prstGeom prst="roundRect">
            <a:avLst>
              <a:gd name="adj" fmla="val 37500"/>
            </a:avLst>
          </a:prstGeom>
          <a:solidFill>
            <a:srgbClr val="2F6B9A"/>
          </a:solidFill>
          <a:ln w="10160">
            <a:solidFill>
              <a:srgbClr val="2F6B9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5681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 earlier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60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utilisation fields trigger a tier at encounter start.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145536" y="2441448"/>
            <a:ext cx="201168" cy="0"/>
          </a:xfrm>
          <a:prstGeom prst="line">
            <a:avLst/>
          </a:prstGeom>
          <a:noFill/>
          <a:ln w="17780">
            <a:solidFill>
              <a:srgbClr val="627D9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64408" y="2368296"/>
            <a:ext cx="155448" cy="146304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72821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728216"/>
            <a:ext cx="2487168" cy="50292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1938528"/>
            <a:ext cx="338328" cy="292608"/>
          </a:xfrm>
          <a:prstGeom prst="roundRect">
            <a:avLst>
              <a:gd name="adj" fmla="val 37500"/>
            </a:avLst>
          </a:prstGeom>
          <a:solidFill>
            <a:srgbClr val="17A398"/>
          </a:solidFill>
          <a:ln w="1016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195681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529584" y="2359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sooner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9584" y="2660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a reason-coded flag to the responsible human team.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852160" y="2441448"/>
            <a:ext cx="201168" cy="0"/>
          </a:xfrm>
          <a:prstGeom prst="line">
            <a:avLst/>
          </a:prstGeom>
          <a:noFill/>
          <a:ln w="17780">
            <a:solidFill>
              <a:srgbClr val="627D9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71032" y="2368296"/>
            <a:ext cx="155448" cy="146304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72821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1728216"/>
            <a:ext cx="2487168" cy="50292"/>
          </a:xfrm>
          <a:prstGeom prst="rect">
            <a:avLst/>
          </a:prstGeom>
          <a:solidFill>
            <a:srgbClr val="E4A23A"/>
          </a:solidFill>
          <a:ln w="12700">
            <a:solidFill>
              <a:srgbClr val="E4A23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1938528"/>
            <a:ext cx="338328" cy="292608"/>
          </a:xfrm>
          <a:prstGeom prst="roundRect">
            <a:avLst>
              <a:gd name="adj" fmla="val 37500"/>
            </a:avLst>
          </a:prstGeom>
          <a:solidFill>
            <a:srgbClr val="E4A23A"/>
          </a:solidFill>
          <a:ln w="10160">
            <a:solidFill>
              <a:srgbClr val="E4A23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95681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236208" y="2359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Coordinate care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2660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determines whether follow-up or discharge support is appropriate.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558784" y="2441448"/>
            <a:ext cx="201168" cy="0"/>
          </a:xfrm>
          <a:prstGeom prst="line">
            <a:avLst/>
          </a:prstGeom>
          <a:noFill/>
          <a:ln w="17780">
            <a:solidFill>
              <a:srgbClr val="627D9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677656" y="2368296"/>
            <a:ext cx="155448" cy="146304"/>
          </a:xfrm>
          <a:prstGeom prst="chevron">
            <a:avLst/>
          </a:prstGeom>
          <a:solidFill>
            <a:srgbClr val="627D98"/>
          </a:solidFill>
          <a:ln w="12700">
            <a:solidFill>
              <a:srgbClr val="627D9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1728216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1728216"/>
            <a:ext cx="2487168" cy="50292"/>
          </a:xfrm>
          <a:prstGeom prst="rect">
            <a:avLst/>
          </a:prstGeom>
          <a:solidFill>
            <a:srgbClr val="C95D55"/>
          </a:solidFill>
          <a:ln w="12700">
            <a:solidFill>
              <a:srgbClr val="C95D5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2832" y="1938528"/>
            <a:ext cx="338328" cy="292608"/>
          </a:xfrm>
          <a:prstGeom prst="roundRect">
            <a:avLst>
              <a:gd name="adj" fmla="val 37500"/>
            </a:avLst>
          </a:prstGeom>
          <a:solidFill>
            <a:srgbClr val="C95D55"/>
          </a:solidFill>
          <a:ln w="10160">
            <a:solidFill>
              <a:srgbClr val="C95D5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195681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942832" y="2359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outcomes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42832" y="266090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readmission labels, workload and cost after the pilot.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58368" y="3547872"/>
            <a:ext cx="6784848" cy="2322576"/>
          </a:xfrm>
          <a:prstGeom prst="roundRect">
            <a:avLst>
              <a:gd name="adj" fmla="val 4724"/>
            </a:avLst>
          </a:prstGeom>
          <a:solidFill>
            <a:srgbClr val="102A43"/>
          </a:solidFill>
          <a:ln w="1016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3803904"/>
            <a:ext cx="5989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VALUE PATHWAY TO TEST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941832" y="4151376"/>
            <a:ext cx="6099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Earlier flag → earlier human review → possible change in follow-up / readmission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50976" y="4882896"/>
            <a:ext cx="6035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assume every readmission is avoidable or that each flagged case should receive the same intervention.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7708392" y="3547872"/>
            <a:ext cx="3831336" cy="2322576"/>
          </a:xfrm>
          <a:prstGeom prst="roundRect">
            <a:avLst>
              <a:gd name="adj" fmla="val 4724"/>
            </a:avLst>
          </a:prstGeom>
          <a:solidFill>
            <a:srgbClr val="FFF3DB"/>
          </a:solidFill>
          <a:ln w="10160">
            <a:solidFill>
              <a:srgbClr val="FFF3D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3803904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8C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BREAK-EVEN CANNOT BE CALCULATED YET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8001000" y="4133088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 benefit = verified cost avoided + contribution from capacity actually used − build/run cost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010144" y="50292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CSV has no cost, payment, staffing, occupancy or intervention-expense fields.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594360" y="646480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 is a hypothesis until evaluated; the supplied file contains encounter and outcome fields, not finance data.</a:t>
            </a:r>
            <a:endParaRPr lang="en-US" sz="74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35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INTERVENTION | PROPOSED RULE ENGINE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 the review at encounter start using prior-use fields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fields that can be available at the intended decision point; keep each rule deterministic and explainable.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657600" cy="45537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196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LOGIC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859536" y="2157984"/>
            <a:ext cx="3072384" cy="932688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 w="10160">
            <a:solidFill>
              <a:srgbClr val="FBE9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58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kern="0" spc="60" dirty="0">
                <a:solidFill>
                  <a:srgbClr val="C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24128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≥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28163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25.66% observed “&lt;30” rate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859536" y="3310128"/>
            <a:ext cx="3072384" cy="932688"/>
          </a:xfrm>
          <a:prstGeom prst="roundRect">
            <a:avLst>
              <a:gd name="adj" fmla="val 11765"/>
            </a:avLst>
          </a:prstGeom>
          <a:solidFill>
            <a:srgbClr val="FFF3DB"/>
          </a:solidFill>
          <a:ln w="10160">
            <a:solidFill>
              <a:srgbClr val="FFF3D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4107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kern="0" spc="60" dirty="0">
                <a:solidFill>
                  <a:srgbClr val="E4A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 PRIORITY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024128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1–2 OR (inpatient = 0 AND emergency ≥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396849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13.63% observed “&lt;30” rate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859536" y="4489704"/>
            <a:ext cx="3072384" cy="932688"/>
          </a:xfrm>
          <a:prstGeom prst="roundRect">
            <a:avLst>
              <a:gd name="adj" fmla="val 11765"/>
            </a:avLst>
          </a:prstGeom>
          <a:solidFill>
            <a:srgbClr val="E3F5F1"/>
          </a:solidFill>
          <a:ln w="10160">
            <a:solidFill>
              <a:srgbClr val="E3F5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590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kern="0" spc="60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1024128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number_inpatient = 0 AND number_emergency = 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514807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8.30% observed “&lt;30” rate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89704" y="1554480"/>
            <a:ext cx="7132320" cy="4553712"/>
          </a:xfrm>
          <a:prstGeom prst="roundRect">
            <a:avLst>
              <a:gd name="adj" fmla="val 2410"/>
            </a:avLst>
          </a:prstGeom>
          <a:solidFill>
            <a:srgbClr val="102A43"/>
          </a:solidFill>
          <a:ln w="1016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181965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WORKFLOW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4800600" y="2167128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808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12664" y="2162556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history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784848" y="2162556"/>
            <a:ext cx="4416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prior inpatient / emergency counts at encounter start.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974336" y="2496312"/>
            <a:ext cx="0" cy="274320"/>
          </a:xfrm>
          <a:prstGeom prst="line">
            <a:avLst/>
          </a:prstGeom>
          <a:noFill/>
          <a:ln w="10160">
            <a:solidFill>
              <a:srgbClr val="3D5A7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800600" y="2834640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4835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12664" y="2830068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a tier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784848" y="2830068"/>
            <a:ext cx="4416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rules in priority order and save the rule version.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974336" y="3163824"/>
            <a:ext cx="0" cy="274320"/>
          </a:xfrm>
          <a:prstGeom prst="line">
            <a:avLst/>
          </a:prstGeom>
          <a:noFill/>
          <a:ln w="10160">
            <a:solidFill>
              <a:srgbClr val="3D5A7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800600" y="3502152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158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12664" y="3497580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flag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6784848" y="3497580"/>
            <a:ext cx="4416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tier, trigger fields, encounter count and historical group rate.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974336" y="3831336"/>
            <a:ext cx="0" cy="274320"/>
          </a:xfrm>
          <a:prstGeom prst="line">
            <a:avLst/>
          </a:prstGeom>
          <a:noFill/>
          <a:ln w="10160">
            <a:solidFill>
              <a:srgbClr val="3D5A73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800600" y="4169664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1833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312664" y="4165092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for review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784848" y="4165092"/>
            <a:ext cx="4416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to a human reviewer; capture action and disposition.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974336" y="4498848"/>
            <a:ext cx="0" cy="274320"/>
          </a:xfrm>
          <a:prstGeom prst="line">
            <a:avLst/>
          </a:prstGeom>
          <a:noFill/>
          <a:ln w="10160">
            <a:solidFill>
              <a:srgbClr val="3D5A73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800600" y="4837176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4C4661"/>
          </a:solidFill>
          <a:ln w="10160">
            <a:solidFill>
              <a:srgbClr val="4C4661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8508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D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312664" y="4832604"/>
            <a:ext cx="1463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usefulness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784848" y="4832604"/>
            <a:ext cx="4416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flags, misses, review burden and outcomes.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791456" y="5623560"/>
            <a:ext cx="6373368" cy="292608"/>
          </a:xfrm>
          <a:prstGeom prst="roundRect">
            <a:avLst>
              <a:gd name="adj" fmla="val 37500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5660136"/>
            <a:ext cx="6099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Guardrail: review prompt only — never automate discharge, treatment or medication decisions.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594360" y="646480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rates are historical group statistics; at deployment, prior-utilisation fields must be verified as available at encounter start.</a:t>
            </a:r>
            <a:endParaRPr lang="en-US" sz="74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35" dirty="0">
                <a:solidFill>
                  <a:srgbClr val="17A3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UNKNOWNS | VALIDATE BEFORE DEPLOYMENT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that early flags are accurate, usable and timely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cohort rates are calculated on the same historical file used to propose the rules; they are not holdout-test results.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4846320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8366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C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UNKNOWNS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859536" y="2221992"/>
            <a:ext cx="301752" cy="301752"/>
          </a:xfrm>
          <a:prstGeom prst="roundRect">
            <a:avLst>
              <a:gd name="adj" fmla="val 36364"/>
            </a:avLst>
          </a:prstGeom>
          <a:solidFill>
            <a:srgbClr val="FBE9E7"/>
          </a:solidFill>
          <a:ln w="10160">
            <a:solidFill>
              <a:srgbClr val="FBE9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31136"/>
            <a:ext cx="301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22128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at admission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2450592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prior inpatient/emergency counts be accessed at the point the alert must fire?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59536" y="3026664"/>
            <a:ext cx="301752" cy="301752"/>
          </a:xfrm>
          <a:prstGeom prst="roundRect">
            <a:avLst>
              <a:gd name="adj" fmla="val 36364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035808"/>
            <a:ext cx="301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98448" y="30175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scope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98448" y="3255264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live system capture visits outside its own hospital network?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59536" y="3831336"/>
            <a:ext cx="301752" cy="301752"/>
          </a:xfrm>
          <a:prstGeom prst="roundRect">
            <a:avLst>
              <a:gd name="adj" fmla="val 36364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840480"/>
            <a:ext cx="301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98448" y="38221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Patient-level dependence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98448" y="4059936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has 101,766 encounters but 71,518 unique patient IDs.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59536" y="4636008"/>
            <a:ext cx="301752" cy="301752"/>
          </a:xfrm>
          <a:prstGeom prst="roundRect">
            <a:avLst>
              <a:gd name="adj" fmla="val 36364"/>
            </a:avLst>
          </a:prstGeom>
          <a:solidFill>
            <a:srgbClr val="EEF3F7"/>
          </a:solidFill>
          <a:ln w="1016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645152"/>
            <a:ext cx="301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98448" y="46268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impact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4864608"/>
            <a:ext cx="3730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costs, payments, staffing, occupancy or intervention expense are included.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669280" y="1627632"/>
            <a:ext cx="5952744" cy="4416552"/>
          </a:xfrm>
          <a:prstGeom prst="roundRect">
            <a:avLst>
              <a:gd name="adj" fmla="val 2484"/>
            </a:avLst>
          </a:prstGeom>
          <a:solidFill>
            <a:srgbClr val="102A43"/>
          </a:solidFill>
          <a:ln w="1016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1883664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GATES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5989320" y="2221992"/>
            <a:ext cx="338328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235708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473952" y="2217420"/>
            <a:ext cx="4590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the rule definition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73952" y="244144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high / elevated / baseline logic fixed before testing.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89320" y="2916936"/>
            <a:ext cx="338328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930652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473952" y="2912364"/>
            <a:ext cx="4590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by patient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73952" y="3136392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patient_nbr may appear in both development and test partitions.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989320" y="3611880"/>
            <a:ext cx="338328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625596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473952" y="3607308"/>
            <a:ext cx="4590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Back-test on unseen patients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73952" y="3831336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flagged share, precision, recall, and stability of each tier.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989320" y="4306824"/>
            <a:ext cx="338328" cy="310896"/>
          </a:xfrm>
          <a:prstGeom prst="roundRect">
            <a:avLst>
              <a:gd name="adj" fmla="val 35294"/>
            </a:avLst>
          </a:prstGeom>
          <a:solidFill>
            <a:srgbClr val="244A65"/>
          </a:solidFill>
          <a:ln w="10160">
            <a:solidFill>
              <a:srgbClr val="244A6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432054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473952" y="4302252"/>
            <a:ext cx="4590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silent prospective pilot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73952" y="4526280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alert timing, data availability, workload and reviewer agreement.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5989320" y="5001768"/>
            <a:ext cx="338328" cy="310896"/>
          </a:xfrm>
          <a:prstGeom prst="roundRect">
            <a:avLst>
              <a:gd name="adj" fmla="val 35294"/>
            </a:avLst>
          </a:prstGeom>
          <a:solidFill>
            <a:srgbClr val="4C4661"/>
          </a:solidFill>
          <a:ln w="10160">
            <a:solidFill>
              <a:srgbClr val="4C4661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5015484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D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473952" y="4997196"/>
            <a:ext cx="4590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impact separately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73952" y="5221224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readmission outcomes and link actual costs before estimating ROI.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566928" y="6144768"/>
            <a:ext cx="11055096" cy="182880"/>
          </a:xfrm>
          <a:prstGeom prst="roundRect">
            <a:avLst>
              <a:gd name="adj" fmla="val 60000"/>
            </a:avLst>
          </a:prstGeom>
          <a:solidFill>
            <a:srgbClr val="FFF3DB"/>
          </a:solidFill>
          <a:ln w="10160">
            <a:solidFill>
              <a:srgbClr val="FFF3D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614019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8C5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pilot the rule-based early-warning workflow; do not claim clinical impact or ROI until validated.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594360" y="646480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diabetic_data.csv. Outcome-based back-testing and prospective validation remain required.</a:t>
            </a:r>
            <a:endParaRPr lang="en-US" sz="74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1431</Words>
  <Application>Microsoft Office PowerPoint</Application>
  <PresentationFormat>Widescreen</PresentationFormat>
  <Paragraphs>161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Readmission Identification with a Rule-Based Engine</dc:title>
  <dc:subject>Rule-based early readmission identification from historical encounter data</dc:subject>
  <dc:creator>OpenAI</dc:creator>
  <cp:lastModifiedBy>guru raj</cp:lastModifiedBy>
  <cp:revision>2</cp:revision>
  <dcterms:created xsi:type="dcterms:W3CDTF">2026-10-09T19:55:29Z</dcterms:created>
  <dcterms:modified xsi:type="dcterms:W3CDTF">2026-10-10T02:22:17Z</dcterms:modified>
</cp:coreProperties>
</file>